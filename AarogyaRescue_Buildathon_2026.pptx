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202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hthakre1204@outlook.com" userId="ab477d4c5d836e2f" providerId="LiveId" clId="{41FB8997-C805-49F1-9AA5-6DCEDBC462A4}"/>
    <pc:docChg chg="modSld">
      <pc:chgData name="piyushthakre1204@outlook.com" userId="ab477d4c5d836e2f" providerId="LiveId" clId="{41FB8997-C805-49F1-9AA5-6DCEDBC462A4}" dt="2026-08-14T17:56:27.847" v="1" actId="14100"/>
      <pc:docMkLst>
        <pc:docMk/>
      </pc:docMkLst>
      <pc:sldChg chg="modSp mod">
        <pc:chgData name="piyushthakre1204@outlook.com" userId="ab477d4c5d836e2f" providerId="LiveId" clId="{41FB8997-C805-49F1-9AA5-6DCEDBC462A4}" dt="2026-08-14T17:56:27.847" v="1" actId="14100"/>
        <pc:sldMkLst>
          <pc:docMk/>
          <pc:sldMk cId="0" sldId="263"/>
        </pc:sldMkLst>
        <pc:spChg chg="mod">
          <ac:chgData name="piyushthakre1204@outlook.com" userId="ab477d4c5d836e2f" providerId="LiveId" clId="{41FB8997-C805-49F1-9AA5-6DCEDBC462A4}" dt="2026-08-14T17:56:27.847" v="1" actId="14100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8308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37744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7180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6616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6052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8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4924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3796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2668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1540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0412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9848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9284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0" y="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436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8872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8308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7744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180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6616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16052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75488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34924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4360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3796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72668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2104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1540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50976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10412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69848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9284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887200" y="5943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9436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8872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8308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7744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97180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56616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16052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5488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34924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94360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53796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3232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2668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2104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91540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0976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0412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69848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29284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887200" y="11887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9436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8872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78308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37744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97180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56616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16052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75488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34924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94360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53796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13232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72668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32104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91540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50976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10412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69848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29284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887200" y="17830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9436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8872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78308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37744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97180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56616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16052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5488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34924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94360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53796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13232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72668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32104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91540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950976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10412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069848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29284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1887200" y="23774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436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8872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78308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37744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297180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356616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16052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75488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34924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360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653796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13232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772668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832104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91540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950976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10412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69848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29284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1887200" y="29718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59436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18872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78308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237744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297180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56616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416052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475488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534924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594360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653796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713232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72668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32104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891540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950976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10412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69848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129284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1887200" y="35661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436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18872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78308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237744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297180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356616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416052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475488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534924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594360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653796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713232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772668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832104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891540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950976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010412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069848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129284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1887200" y="416052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59436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18872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78308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237744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297180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356616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416052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475488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534924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594360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653796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713232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772668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832104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891540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950976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010412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069848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129284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1887200" y="475488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59436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18872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78308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37744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97180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356616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416052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475488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534924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594360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653796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713232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772668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832104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891540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950976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1010412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069848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129284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11887200" y="534924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59436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18872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178308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37744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97180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356616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416052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475488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534924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594360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653796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713232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772668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832104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891540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950976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010412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1069848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1129284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11887200" y="594360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59436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18872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178308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237744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297180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56616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416052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475488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534924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594360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653796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713232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772668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832104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891540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950976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10412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069848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1129284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11887200" y="6537960"/>
            <a:ext cx="41148" cy="41148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164592" y="0"/>
            <a:ext cx="12024360" cy="50800"/>
          </a:xfrm>
          <a:prstGeom prst="rect">
            <a:avLst/>
          </a:prstGeom>
          <a:solidFill>
            <a:srgbClr val="A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8" name="Picture 257" descr="logo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5029200" cy="1005840"/>
          </a:xfrm>
          <a:prstGeom prst="rect">
            <a:avLst/>
          </a:prstGeom>
        </p:spPr>
      </p:pic>
      <p:sp>
        <p:nvSpPr>
          <p:cNvPr id="259" name="Oval 258"/>
          <p:cNvSpPr/>
          <p:nvPr/>
        </p:nvSpPr>
        <p:spPr>
          <a:xfrm>
            <a:off x="8503920" y="1097280"/>
            <a:ext cx="3291840" cy="3291840"/>
          </a:xfrm>
          <a:prstGeom prst="ellipse">
            <a:avLst/>
          </a:prstGeom>
          <a:solidFill>
            <a:srgbClr val="180040"/>
          </a:solidFill>
          <a:ln w="3810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8183880" y="777240"/>
            <a:ext cx="3931920" cy="3931920"/>
          </a:xfrm>
          <a:prstGeom prst="ellipse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7818120" y="411480"/>
            <a:ext cx="4663440" cy="4663440"/>
          </a:xfrm>
          <a:prstGeom prst="ellipse">
            <a:avLst/>
          </a:prstGeom>
          <a:noFill/>
          <a:ln w="1270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7452360" y="45719"/>
            <a:ext cx="5394960" cy="5394960"/>
          </a:xfrm>
          <a:prstGeom prst="ellipse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9418320" y="17373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2D2D"/>
                </a:solidFill>
                <a:latin typeface="Arial"/>
              </a:rPr>
              <a:t>🆘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Arial"/>
              </a:rPr>
              <a:t>AarogyaRescue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57200" y="25146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E5FF"/>
                </a:solidFill>
                <a:latin typeface="Arial"/>
              </a:rPr>
              <a:t>Emergency Response System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457200" y="3154680"/>
            <a:ext cx="5303520" cy="38100"/>
          </a:xfrm>
          <a:prstGeom prst="rect">
            <a:avLst/>
          </a:prstGeom>
          <a:solidFill>
            <a:srgbClr val="A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457200" y="33375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Arial"/>
              </a:rPr>
              <a:t>Auto-call ambulance  ·  Share medical data  ·  Live GPS tracking
Accelerometer crash detection  ·  Zero-friction SOS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457200" y="4434840"/>
            <a:ext cx="6583680" cy="658368"/>
          </a:xfrm>
          <a:prstGeom prst="roundRect">
            <a:avLst>
              <a:gd name="adj" fmla="val 5000"/>
            </a:avLst>
          </a:prstGeom>
          <a:solidFill>
            <a:srgbClr val="0A14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640080" y="4507992"/>
            <a:ext cx="6309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Arial"/>
              </a:rPr>
              <a:t>🚀  KIRO Buildathon 2026  ·  RTMSSU Nagpur  ·  15 August 2026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57200" y="5257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C4DE"/>
                </a:solidFill>
                <a:latin typeface="Arial"/>
              </a:rPr>
              <a:t>"Fast Care. Save Life."</a:t>
            </a:r>
          </a:p>
        </p:txBody>
      </p:sp>
      <p:pic>
        <p:nvPicPr>
          <p:cNvPr id="271" name="Picture 27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0584" y="73152"/>
            <a:ext cx="530352" cy="530352"/>
          </a:xfrm>
          <a:prstGeom prst="rect">
            <a:avLst/>
          </a:prstGeom>
        </p:spPr>
      </p:pic>
      <p:sp>
        <p:nvSpPr>
          <p:cNvPr id="272" name="TextBox 271"/>
          <p:cNvSpPr txBox="1"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6688"/>
                </a:solidFill>
                <a:latin typeface="Arial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8308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37744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7180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6616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6052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8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4924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3796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2668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1540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0412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9848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9284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0" y="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436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8872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8308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7744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180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6616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16052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75488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34924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4360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3796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72668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2104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1540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50976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10412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69848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9284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887200" y="5943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9436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8872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8308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7744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97180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56616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16052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5488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34924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94360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53796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3232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2668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2104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91540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0976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0412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69848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29284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887200" y="11887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9436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8872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78308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37744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97180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56616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16052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75488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34924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94360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53796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13232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72668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32104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91540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50976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10412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69848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29284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887200" y="17830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9436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8872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78308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37744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97180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56616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16052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5488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34924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94360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53796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13232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72668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32104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91540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950976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10412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069848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29284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1887200" y="23774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436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8872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78308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37744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297180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356616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16052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75488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34924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360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653796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13232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772668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832104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91540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950976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10412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69848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29284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1887200" y="29718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59436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18872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78308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237744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297180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56616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416052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475488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534924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594360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653796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713232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72668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32104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891540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950976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10412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69848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129284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1887200" y="35661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436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18872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78308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237744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297180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356616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416052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475488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534924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594360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653796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713232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772668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832104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891540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950976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010412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069848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129284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1887200" y="416052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59436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18872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78308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237744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297180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356616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416052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475488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534924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594360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653796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713232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772668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832104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891540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950976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010412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069848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129284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1887200" y="475488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59436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18872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78308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37744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97180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356616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416052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475488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534924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594360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653796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713232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772668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832104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891540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950976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1010412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069848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129284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11887200" y="534924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59436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18872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178308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37744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97180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356616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416052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475488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534924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594360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653796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713232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772668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832104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891540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950976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010412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1069848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1129284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11887200" y="594360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59436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18872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178308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237744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297180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56616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416052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475488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534924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594360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653796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713232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772668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832104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891540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950976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10412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069848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1129284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11887200" y="6537960"/>
            <a:ext cx="41148" cy="41148"/>
          </a:xfrm>
          <a:prstGeom prst="ellipse">
            <a:avLst/>
          </a:prstGeom>
          <a:solidFill>
            <a:srgbClr val="A000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A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57200" y="1097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Arial"/>
              </a:rPr>
              <a:t>01  ·  THE PROBLEM</a:t>
            </a:r>
          </a:p>
        </p:txBody>
      </p:sp>
      <p:pic>
        <p:nvPicPr>
          <p:cNvPr id="258" name="Picture 25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584" y="73152"/>
            <a:ext cx="530352" cy="530352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9171432" y="109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FF"/>
                </a:solidFill>
                <a:latin typeface="Arial"/>
              </a:rPr>
              <a:t>AarogyaRescue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6688"/>
                </a:solidFill>
                <a:latin typeface="Arial"/>
              </a:rPr>
              <a:t>02 / 08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Every Second Counts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457200" y="1261872"/>
            <a:ext cx="3840480" cy="38100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ounded Rectangle 262"/>
          <p:cNvSpPr/>
          <p:nvPr/>
        </p:nvSpPr>
        <p:spPr>
          <a:xfrm>
            <a:off x="411480" y="1444752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594360" y="1536192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2D2D"/>
                </a:solidFill>
                <a:latin typeface="Arial"/>
              </a:rPr>
              <a:t>1.5 M+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94360" y="226771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Arial"/>
              </a:rPr>
              <a:t>Road accident deaths
globally per year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4297680" y="1444752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4480560" y="1536192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D700"/>
                </a:solidFill>
                <a:latin typeface="Arial"/>
              </a:rPr>
              <a:t>4.6 min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480560" y="226771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Arial"/>
              </a:rPr>
              <a:t>Average ambulance
response time in India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8183879" y="1444752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8366759" y="1536192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FF88"/>
                </a:solidFill>
                <a:latin typeface="Arial"/>
              </a:rPr>
              <a:t>58%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8366759" y="226771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Arial"/>
              </a:rPr>
              <a:t>Deaths preventable
with faster response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57200" y="34015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Arial"/>
              </a:rPr>
              <a:t>Core Gaps Today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57200" y="38587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  <a:latin typeface="Arial"/>
              </a:rPr>
              <a:t>⚠   Victim may be unconscious — cannot call for help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57200" y="437997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  <a:latin typeface="Arial"/>
              </a:rPr>
              <a:t>⚠   Emergency contacts unaware of accident location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457200" y="4901183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  <a:latin typeface="Arial"/>
              </a:rPr>
              <a:t>⚠   Hospital has no medical data before patient arrives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457200" y="54223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  <a:latin typeface="Arial"/>
              </a:rPr>
              <a:t>⚠   Blood bank unprepared — critical golden-hour time lost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A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Arial"/>
              </a:rPr>
              <a:t>02  ·  SOLUTION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584" y="73152"/>
            <a:ext cx="530352" cy="530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71432" y="109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FF"/>
                </a:solidFill>
                <a:latin typeface="Arial"/>
              </a:rPr>
              <a:t>AarogyaRescue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6688"/>
                </a:solidFill>
                <a:latin typeface="Arial"/>
              </a:rPr>
              <a:t>03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AarogyaRescue — Fully Automated Emergency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71323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E5FF"/>
                </a:solidFill>
                <a:latin typeface="Arial"/>
              </a:rPr>
              <a:t>One platform. Zero user action needed after accident.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01952"/>
            <a:ext cx="2148840" cy="230428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19933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57860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Arial"/>
              </a:rPr>
              <a:t>SOS Button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35808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Arial"/>
              </a:rPr>
              <a:t>Manual &amp;
auto-trigger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1901952"/>
            <a:ext cx="2148840" cy="230428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9272" y="19933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57860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Arial"/>
              </a:rPr>
              <a:t>Crash 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035808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Arial"/>
              </a:rPr>
              <a:t>Accelerometer
algorithm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1901952"/>
            <a:ext cx="2148840" cy="230428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712" y="19933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57860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Arial"/>
              </a:rPr>
              <a:t>Auto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035808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Arial"/>
              </a:rPr>
              <a:t>Nearest
ambulance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901952"/>
            <a:ext cx="2148840" cy="230428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74152" y="19933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57860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Arial"/>
              </a:rPr>
              <a:t>Medical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035808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Arial"/>
              </a:rPr>
              <a:t>Blood group,
allergies, Rx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901952"/>
            <a:ext cx="2148840" cy="230428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19933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57860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Arial"/>
              </a:rPr>
              <a:t>Live GPS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035808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Arial"/>
              </a:rPr>
              <a:t>Real-time
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4074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Arial"/>
              </a:rPr>
              <a:t>Accident Detected  →  GPS Acquired  →  Nearest Hospital Found  →  Auto Call + SMS  →  Medical Data Shared  →  Help Dispatched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074920"/>
            <a:ext cx="11430000" cy="1207008"/>
          </a:xfrm>
          <a:prstGeom prst="roundRect">
            <a:avLst>
              <a:gd name="adj" fmla="val 5000"/>
            </a:avLst>
          </a:prstGeom>
          <a:solidFill>
            <a:srgbClr val="051028"/>
          </a:solidFill>
          <a:ln w="1905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Arial"/>
              </a:rPr>
              <a:t>"If a person is unconscious after a crash, AarogyaRescue triggers automatically via accelerometer — calling the nearest ambulance, notifying family, and sharing blood group and medical history with the hospital — all within seconds."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8308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37744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7180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6616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6052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8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4924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3796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2668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1540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0412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9848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9284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0" y="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436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8872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8308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7744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180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6616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16052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75488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34924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4360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3796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72668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2104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1540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50976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10412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69848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9284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887200" y="5943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9436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8872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8308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7744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97180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56616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16052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5488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34924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94360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53796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3232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2668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2104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91540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0976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0412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69848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29284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887200" y="11887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9436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8872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78308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37744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97180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56616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16052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75488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34924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94360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53796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13232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72668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32104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91540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50976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10412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69848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29284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887200" y="17830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9436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8872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78308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37744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97180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56616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16052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5488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34924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94360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53796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13232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72668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32104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91540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950976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10412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069848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29284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1887200" y="23774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436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8872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78308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37744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297180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356616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16052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75488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34924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360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653796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13232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772668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832104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91540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950976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10412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69848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29284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1887200" y="29718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59436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18872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78308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237744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297180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56616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416052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475488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534924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594360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653796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713232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72668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32104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891540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950976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10412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69848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129284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1887200" y="35661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436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18872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78308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237744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297180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356616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416052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475488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534924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594360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653796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713232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772668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832104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891540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950976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010412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069848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129284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1887200" y="416052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59436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18872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78308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237744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297180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356616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416052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475488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534924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594360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653796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713232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772668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832104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891540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950976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010412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069848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129284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1887200" y="475488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59436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18872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78308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37744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97180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356616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416052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475488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534924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594360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653796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713232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772668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832104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891540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950976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1010412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069848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129284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11887200" y="534924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59436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18872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178308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37744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97180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356616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416052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475488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534924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594360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653796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713232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772668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832104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891540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950976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010412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1069848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1129284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11887200" y="594360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59436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18872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178308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237744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297180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56616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416052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475488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534924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594360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653796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713232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772668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832104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891540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950976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10412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069848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1129284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11887200" y="6537960"/>
            <a:ext cx="41148" cy="41148"/>
          </a:xfrm>
          <a:prstGeom prst="ellipse">
            <a:avLst/>
          </a:prstGeom>
          <a:solidFill>
            <a:srgbClr val="00E5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A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457200" y="1097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Arial"/>
              </a:rPr>
              <a:t>03  ·  SYSTEM ARCHITECTURE</a:t>
            </a:r>
          </a:p>
        </p:txBody>
      </p:sp>
      <p:pic>
        <p:nvPicPr>
          <p:cNvPr id="257" name="Picture 25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584" y="73152"/>
            <a:ext cx="530352" cy="530352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9171432" y="109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FF"/>
                </a:solidFill>
                <a:latin typeface="Arial"/>
              </a:rPr>
              <a:t>AarogyaRescue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6688"/>
                </a:solidFill>
                <a:latin typeface="Arial"/>
              </a:rPr>
              <a:t>04 / 08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57200" y="475488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How It Works — End to End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57200" y="1115568"/>
            <a:ext cx="475488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ounded Rectangle 261"/>
          <p:cNvSpPr/>
          <p:nvPr/>
        </p:nvSpPr>
        <p:spPr>
          <a:xfrm>
            <a:off x="256032" y="1444752"/>
            <a:ext cx="2011680" cy="157276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347472" y="153619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FF"/>
                </a:solidFill>
                <a:latin typeface="Arial"/>
              </a:rPr>
              <a:t>📱 Mobile
Device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29184" y="219456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Arial"/>
              </a:rPr>
              <a:t>GPS + Accelerometer
SOS Button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2322576" y="2039112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FF"/>
                </a:solidFill>
                <a:latin typeface="Arial"/>
              </a:rPr>
              <a:t>▶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2633472" y="1444752"/>
            <a:ext cx="2011680" cy="157276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2540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2724912" y="153619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000FF"/>
                </a:solidFill>
                <a:latin typeface="Arial"/>
              </a:rPr>
              <a:t>⚙️ Flask
Backend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706624" y="219456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Arial"/>
              </a:rPr>
              <a:t>Haversine Engine
Hospital Finder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700016" y="2039112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FF"/>
                </a:solidFill>
                <a:latin typeface="Arial"/>
              </a:rPr>
              <a:t>▶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5010912" y="1444752"/>
            <a:ext cx="2011680" cy="157276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254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5102352" y="153619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0080"/>
                </a:solidFill>
                <a:latin typeface="Arial"/>
              </a:rPr>
              <a:t>📞 Twilio
API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084064" y="219456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Arial"/>
              </a:rPr>
              <a:t>Voice Call +
SMS Gateway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077456" y="2039112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FF"/>
                </a:solidFill>
                <a:latin typeface="Arial"/>
              </a:rPr>
              <a:t>▶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7388352" y="1444752"/>
            <a:ext cx="2011680" cy="157276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7479792" y="153619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Arial"/>
              </a:rPr>
              <a:t>🏥 Hospital
&amp; Blood Bank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461504" y="219456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Arial"/>
              </a:rPr>
              <a:t>Medical Profile
Delivered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454896" y="2039112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FF"/>
                </a:solidFill>
                <a:latin typeface="Arial"/>
              </a:rPr>
              <a:t>▶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9765792" y="1444752"/>
            <a:ext cx="2011680" cy="1572768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9857232" y="153619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  <a:latin typeface="Arial"/>
              </a:rPr>
              <a:t>👨‍👩‍👧 Family
Contacts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838944" y="219456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Arial"/>
              </a:rPr>
              <a:t>Location + Blood
Group Alert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57200" y="3291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Arial"/>
              </a:rPr>
              <a:t>TECH STACK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457200" y="3639312"/>
            <a:ext cx="11247120" cy="12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457200" y="376732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Arial"/>
              </a:rPr>
              <a:t>▸  Python 3.14 + Flask 3.0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297680" y="376732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00FF"/>
                </a:solidFill>
                <a:latin typeface="Arial"/>
              </a:rPr>
              <a:t>▸  SQLAlchemy + SQLite DB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8138160" y="376732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0080"/>
                </a:solidFill>
                <a:latin typeface="Arial"/>
              </a:rPr>
              <a:t>▸  Twilio Voice &amp; SMS API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57200" y="436168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88"/>
                </a:solidFill>
                <a:latin typeface="Arial"/>
              </a:rPr>
              <a:t>▸  OpenStreetMap / Nominatim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297680" y="436168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  <a:latin typeface="Arial"/>
              </a:rPr>
              <a:t>▸  Leaflet.js Live Maps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8138160" y="436168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Arial"/>
              </a:rPr>
              <a:t>▸  Bootstrap 5 + Vanilla 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Arial"/>
              </a:rPr>
              <a:t>04  ·  KEY FEATURES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584" y="73152"/>
            <a:ext cx="530352" cy="530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71432" y="109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FF"/>
                </a:solidFill>
                <a:latin typeface="Arial"/>
              </a:rPr>
              <a:t>AarogyaRescue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6688"/>
                </a:solidFill>
                <a:latin typeface="Arial"/>
              </a:rPr>
              <a:t>05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6 Life-Saving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4389120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032" y="1389888"/>
            <a:ext cx="3767328" cy="2176272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1499616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1499616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Arial"/>
              </a:rPr>
              <a:t>Crash Auto-Detection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029968"/>
            <a:ext cx="34564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Device accelerometer monitors G-force.
Spike &gt; 25 m/s² triggers SOS automatically —
no user action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1389888"/>
            <a:ext cx="3767328" cy="2176272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98264" y="1499616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499616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00FF"/>
                </a:solidFill>
                <a:latin typeface="Arial"/>
              </a:rPr>
              <a:t>Automated Ambulance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029968"/>
            <a:ext cx="34564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Twilio places an outbound voice call to
nearest hospital/ambulance. TwiML reads out
patient vitals, blood group &amp; GPS.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389888"/>
            <a:ext cx="3767328" cy="2176272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03335" y="1499616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1499616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0080"/>
                </a:solidFill>
                <a:latin typeface="Arial"/>
              </a:rPr>
              <a:t>Instant SMS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5" y="2029968"/>
            <a:ext cx="34564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All emergency contacts receive SMS with
Google Maps link, blood group, and patient
info the moment SOS fires.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" y="3730752"/>
            <a:ext cx="3767328" cy="2176272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384048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3840480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  <a:latin typeface="Arial"/>
              </a:rPr>
              <a:t>Blood Bank Notification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4370832"/>
            <a:ext cx="34564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Hospital blood bank gets blood group alert
before patient arrives — preparation begins
immediately on dispatch.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4" y="3730752"/>
            <a:ext cx="3767328" cy="2176272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98264" y="384048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3840480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Arial"/>
              </a:rPr>
              <a:t>Real-Time GPS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4370832"/>
            <a:ext cx="34564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Browser Geolocation + OpenStreetMap
reverse-geocodes live address. Map link
shared with hospital &amp; family.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5" y="3730752"/>
            <a:ext cx="3767328" cy="2176272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905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03335" y="384048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7" y="3840480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2D"/>
                </a:solidFill>
                <a:latin typeface="Arial"/>
              </a:rPr>
              <a:t>Medical Profile Sharing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5" y="4370832"/>
            <a:ext cx="34564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Blood group, allergies, medications,
insurance &amp; doctor details transmitted
automatically to hospital on trigger.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8308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37744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7180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6616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6052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8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4924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3796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2668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1540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0412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9848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9284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0" y="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436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8872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8308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7744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180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6616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16052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75488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34924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4360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3796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72668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2104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1540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50976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10412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69848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9284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887200" y="5943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9436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8872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8308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7744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97180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56616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16052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5488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34924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94360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53796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3232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2668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2104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91540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0976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0412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69848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29284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887200" y="11887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9436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8872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78308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37744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97180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56616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16052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75488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34924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94360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53796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13232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72668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32104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91540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50976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10412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69848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29284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887200" y="17830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9436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8872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78308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37744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97180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56616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16052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5488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34924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94360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53796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13232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72668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32104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91540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950976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10412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069848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29284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1887200" y="23774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436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8872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78308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37744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297180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356616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16052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75488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34924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360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653796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13232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772668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832104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91540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950976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10412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69848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29284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1887200" y="29718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59436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18872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78308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237744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297180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56616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416052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475488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534924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594360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653796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713232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72668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32104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891540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950976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10412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69848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129284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1887200" y="35661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436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18872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78308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237744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297180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356616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416052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475488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534924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594360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653796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713232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772668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832104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891540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950976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010412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069848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129284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1887200" y="416052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59436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18872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78308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237744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297180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356616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416052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475488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534924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594360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653796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713232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772668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832104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891540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950976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010412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069848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129284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1887200" y="475488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59436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18872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78308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37744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97180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356616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416052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475488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534924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594360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653796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713232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772668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832104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891540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950976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1010412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069848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129284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11887200" y="534924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59436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18872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178308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37744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97180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356616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416052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475488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534924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594360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653796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713232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772668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832104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891540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950976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010412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1069848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1129284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11887200" y="594360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59436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18872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178308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237744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297180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56616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416052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475488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534924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594360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653796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713232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772668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832104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891540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950976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10412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069848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1129284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11887200" y="6537960"/>
            <a:ext cx="41148" cy="41148"/>
          </a:xfrm>
          <a:prstGeom prst="ellipse">
            <a:avLst/>
          </a:prstGeom>
          <a:solidFill>
            <a:srgbClr val="A000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457200" y="1097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Arial"/>
              </a:rPr>
              <a:t>05  ·  LIVE DEMO  —  APP SCREENS</a:t>
            </a:r>
          </a:p>
        </p:txBody>
      </p:sp>
      <p:pic>
        <p:nvPicPr>
          <p:cNvPr id="257" name="Picture 25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584" y="73152"/>
            <a:ext cx="530352" cy="530352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9171432" y="109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FF"/>
                </a:solidFill>
                <a:latin typeface="Arial"/>
              </a:rPr>
              <a:t>AarogyaRescue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6688"/>
                </a:solidFill>
                <a:latin typeface="Arial"/>
              </a:rPr>
              <a:t>06 / 08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Zero-Friction Interface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57200" y="1143000"/>
            <a:ext cx="384048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ounded Rectangle 261"/>
          <p:cNvSpPr/>
          <p:nvPr/>
        </p:nvSpPr>
        <p:spPr>
          <a:xfrm>
            <a:off x="256032" y="1389888"/>
            <a:ext cx="2761488" cy="4800600"/>
          </a:xfrm>
          <a:prstGeom prst="roundRect">
            <a:avLst>
              <a:gd name="adj" fmla="val 5000"/>
            </a:avLst>
          </a:prstGeom>
          <a:solidFill>
            <a:srgbClr val="081228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256032" y="1389888"/>
            <a:ext cx="2761488" cy="6583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347472" y="1435608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B1A"/>
                </a:solidFill>
                <a:latin typeface="Arial"/>
              </a:rPr>
              <a:t>📋 Registration
&amp; Medical Profile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384048" y="2176272"/>
            <a:ext cx="2523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Arial"/>
              </a:rPr>
              <a:t>Blood group · Age · Address
Allergies · Medications
Insurance · Doctor info
Up to 5 emergency contacts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3236976" y="1389888"/>
            <a:ext cx="2761488" cy="4800600"/>
          </a:xfrm>
          <a:prstGeom prst="roundRect">
            <a:avLst>
              <a:gd name="adj" fmla="val 5000"/>
            </a:avLst>
          </a:prstGeom>
          <a:solidFill>
            <a:srgbClr val="081228"/>
          </a:solidFill>
          <a:ln w="2540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3236976" y="1389888"/>
            <a:ext cx="2761488" cy="658368"/>
          </a:xfrm>
          <a:prstGeom prst="rect">
            <a:avLst/>
          </a:prstGeom>
          <a:solidFill>
            <a:srgbClr val="A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328416" y="1435608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B1A"/>
                </a:solidFill>
                <a:latin typeface="Arial"/>
              </a:rPr>
              <a:t>🔴 SOS Dashboard
&amp; Trigger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3364992" y="2176272"/>
            <a:ext cx="2523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Arial"/>
              </a:rPr>
              <a:t>Live GPS map
Big SOS button
Auto accelerometer detect
Hold 3s — prevents false alarms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6217920" y="1389888"/>
            <a:ext cx="2761488" cy="4800600"/>
          </a:xfrm>
          <a:prstGeom prst="roundRect">
            <a:avLst>
              <a:gd name="adj" fmla="val 5000"/>
            </a:avLst>
          </a:prstGeom>
          <a:solidFill>
            <a:srgbClr val="081228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6217920" y="1389888"/>
            <a:ext cx="2761488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309360" y="1435608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B1A"/>
                </a:solidFill>
                <a:latin typeface="Arial"/>
              </a:rPr>
              <a:t>✅ Alert Status
Panel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345936" y="2176272"/>
            <a:ext cx="2523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Arial"/>
              </a:rPr>
              <a:t>Call placed  ✓
SMS sent  ✓
Hospital notified  ✓
Blood bank alerted  ✓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9198863" y="1389888"/>
            <a:ext cx="2761488" cy="4800600"/>
          </a:xfrm>
          <a:prstGeom prst="roundRect">
            <a:avLst>
              <a:gd name="adj" fmla="val 5000"/>
            </a:avLst>
          </a:prstGeom>
          <a:solidFill>
            <a:srgbClr val="081228"/>
          </a:solidFill>
          <a:ln w="254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9198863" y="1389888"/>
            <a:ext cx="2761488" cy="658368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9290303" y="1435608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B1A"/>
                </a:solidFill>
                <a:latin typeface="Arial"/>
              </a:rPr>
              <a:t>🏥 Admin — Hospital
Registry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26879" y="2176272"/>
            <a:ext cx="2523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Arial"/>
              </a:rPr>
              <a:t>Add hospitals with lat/lon
Blood bank flag
Ambulance direct line
Full accident event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Arial"/>
              </a:rPr>
              <a:t>06  ·  IMPACT  +  FUTURE SCOPE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584" y="73152"/>
            <a:ext cx="530352" cy="530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71432" y="109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FF"/>
                </a:solidFill>
                <a:latin typeface="Arial"/>
              </a:rPr>
              <a:t>AarogyaRescue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6688"/>
                </a:solidFill>
                <a:latin typeface="Arial"/>
              </a:rPr>
              <a:t>07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Impact &amp; What's 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43891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D700"/>
                </a:solidFill>
                <a:latin typeface="Arial"/>
              </a:rPr>
              <a:t>⚡  Current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Arial"/>
              </a:rPr>
              <a:t>✦  Saves lives when victim is unconscious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Arial"/>
              </a:rPr>
              <a:t>✦  Reduces ambulance response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5409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Arial"/>
              </a:rPr>
              <a:t>✦  Hospital prepared before patient arrives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2102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Arial"/>
              </a:rPr>
              <a:t>✦  Blood bank ready — no delay in transfusion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879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Arial"/>
              </a:rPr>
              <a:t>✦  Family notified with exact GPS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Arial"/>
              </a:rPr>
              <a:t>✦  Zero user action needed post-accident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53312"/>
            <a:ext cx="25400" cy="5074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38988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E5FF"/>
                </a:solidFill>
                <a:latin typeface="Arial"/>
              </a:rPr>
              <a:t>🚀  Future Roadmap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920240"/>
            <a:ext cx="5577840" cy="676656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9751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Arial"/>
              </a:rPr>
              <a:t>▸ AI Severity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677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Computer vision on crash photos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688336"/>
            <a:ext cx="5577840" cy="676656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270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743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000FF"/>
                </a:solidFill>
                <a:latin typeface="Arial"/>
              </a:rPr>
              <a:t>▸ OBD-II Car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358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Crash detection from vehicle ECU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456432"/>
            <a:ext cx="5577840" cy="676656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5112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0080"/>
                </a:solidFill>
                <a:latin typeface="Arial"/>
              </a:rPr>
              <a:t>▸ IoT Wearable SOS Band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039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Continuous vitals + GPS wristband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224528"/>
            <a:ext cx="5577840" cy="676656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2793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Arial"/>
              </a:rPr>
              <a:t>▸ WhatsApp Auto-Dispatch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Zero-switching family alerts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992624"/>
            <a:ext cx="5577840" cy="676656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50474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Arial"/>
              </a:rPr>
              <a:t>▸ Volunteer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3400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Nearby certified first-aiders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5760720"/>
            <a:ext cx="5577840" cy="676656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 w="127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58155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2D2D"/>
                </a:solidFill>
                <a:latin typeface="Arial"/>
              </a:rPr>
              <a:t>▸ Government 108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61081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Arial"/>
              </a:rPr>
              <a:t>Direct ambulance dispatch bridge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516" y="-653143"/>
            <a:ext cx="12188952" cy="7663180"/>
          </a:xfrm>
          <a:prstGeom prst="rect">
            <a:avLst/>
          </a:prstGeom>
          <a:solidFill>
            <a:srgbClr val="06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8308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37744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7180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6616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6052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8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4924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3796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2668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1540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0412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9848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9284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0" y="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436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8872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8308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7744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7180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6616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16052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75488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34924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4360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3796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72668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2104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1540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50976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10412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69848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9284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887200" y="5943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9436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8872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8308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7744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97180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56616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16052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5488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34924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94360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53796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3232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2668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2104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91540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0976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0412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69848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29284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887200" y="11887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9436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8872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78308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37744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97180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56616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16052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75488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34924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94360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53796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13232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72668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32104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91540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50976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10412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69848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29284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887200" y="17830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9436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8872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78308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37744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97180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56616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16052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5488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34924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94360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53796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13232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72668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32104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91540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950976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10412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069848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29284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1887200" y="23774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436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8872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78308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37744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297180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356616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16052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75488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34924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360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653796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13232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772668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832104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91540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950976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10412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69848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29284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1887200" y="29718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59436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18872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78308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237744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297180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56616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416052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475488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534924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594360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653796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713232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72668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32104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891540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950976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10412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69848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129284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1887200" y="35661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436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18872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78308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237744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297180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356616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416052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475488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534924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594360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653796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713232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772668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832104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891540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950976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010412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069848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129284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1887200" y="416052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59436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18872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78308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237744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297180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356616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416052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475488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534924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594360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653796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713232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772668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832104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891540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950976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010412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069848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129284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1887200" y="475488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59436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18872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78308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37744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97180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356616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416052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475488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534924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594360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653796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713232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772668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832104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891540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950976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1010412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069848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129284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11887200" y="534924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59436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18872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178308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37744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97180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356616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416052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475488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534924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594360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653796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713232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772668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832104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891540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950976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010412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1069848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1129284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11887200" y="594360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59436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18872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178308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237744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297180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56616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416052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475488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534924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594360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653796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713232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772668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832104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891540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950976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10412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069848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1129284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11887200" y="6537960"/>
            <a:ext cx="41148" cy="41148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3291840" y="502920"/>
            <a:ext cx="5577840" cy="5577840"/>
          </a:xfrm>
          <a:prstGeom prst="ellipse">
            <a:avLst/>
          </a:prstGeom>
          <a:solidFill>
            <a:srgbClr val="000820"/>
          </a:solidFill>
          <a:ln w="2540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880360" y="91439"/>
            <a:ext cx="6400800" cy="6400800"/>
          </a:xfrm>
          <a:prstGeom prst="ellipse">
            <a:avLst/>
          </a:prstGeom>
          <a:noFill/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423160" y="-365760"/>
            <a:ext cx="7315200" cy="7315200"/>
          </a:xfrm>
          <a:prstGeom prst="ellipse">
            <a:avLst/>
          </a:prstGeom>
          <a:noFill/>
          <a:ln w="1016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A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0" name="Picture 25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68680"/>
            <a:ext cx="1188720" cy="1188720"/>
          </a:xfrm>
          <a:prstGeom prst="rect">
            <a:avLst/>
          </a:prstGeom>
        </p:spPr>
      </p:pic>
      <p:sp>
        <p:nvSpPr>
          <p:cNvPr id="261" name="TextBox 260"/>
          <p:cNvSpPr txBox="1"/>
          <p:nvPr/>
        </p:nvSpPr>
        <p:spPr>
          <a:xfrm>
            <a:off x="2286000" y="2148840"/>
            <a:ext cx="7589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286000" y="3218688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00E5FF"/>
                </a:solidFill>
                <a:latin typeface="Arial"/>
              </a:rPr>
              <a:t>AarogyaRescue  —  Fast Care. Save Life.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3749039" y="3840480"/>
            <a:ext cx="4663440" cy="25400"/>
          </a:xfrm>
          <a:prstGeom prst="rect">
            <a:avLst/>
          </a:prstGeom>
          <a:solidFill>
            <a:srgbClr val="A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1371600" y="402336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Arial"/>
              </a:rPr>
              <a:t>Built for  KIRO Buildathon 2026  ·  RTMSSU Nagpur  ·  15 August 2026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1005840" y="4663440"/>
            <a:ext cx="3273552" cy="676656"/>
          </a:xfrm>
          <a:prstGeom prst="roundRect">
            <a:avLst>
              <a:gd name="adj" fmla="val 5000"/>
            </a:avLst>
          </a:prstGeom>
          <a:solidFill>
            <a:srgbClr val="08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143000" y="4727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  <a:latin typeface="Arial"/>
              </a:rPr>
              <a:t>🌐  http://127.0.0.1:5000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4526280" y="4663440"/>
            <a:ext cx="3273552" cy="676656"/>
          </a:xfrm>
          <a:prstGeom prst="roundRect">
            <a:avLst>
              <a:gd name="adj" fmla="val 5000"/>
            </a:avLst>
          </a:prstGeom>
          <a:solidFill>
            <a:srgbClr val="081228"/>
          </a:solidFill>
          <a:ln w="12700">
            <a:solidFill>
              <a:srgbClr val="A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4663440" y="4727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00FF"/>
                </a:solidFill>
                <a:latin typeface="Arial"/>
              </a:rPr>
              <a:t>🐙  github.com/yourrepo/aarogyarescue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8046720" y="4663440"/>
            <a:ext cx="3273552" cy="676656"/>
          </a:xfrm>
          <a:prstGeom prst="roundRect">
            <a:avLst>
              <a:gd name="adj" fmla="val 5000"/>
            </a:avLst>
          </a:prstGeom>
          <a:solidFill>
            <a:srgbClr val="081228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8183880" y="4727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0080"/>
                </a:solidFill>
                <a:latin typeface="Arial"/>
              </a:rPr>
              <a:t>📧  team@aarogyarescue.in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828800" y="555955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B0C4DE"/>
                </a:solidFill>
                <a:latin typeface="Arial"/>
              </a:rPr>
              <a:t>"Every second saved is a life saved."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6688"/>
                </a:solidFill>
                <a:latin typeface="Arial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771</Words>
  <Application>Microsoft Office PowerPoint</Application>
  <PresentationFormat>Custom</PresentationFormat>
  <Paragraphs>135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piyushthakre1204@outlook.com</cp:lastModifiedBy>
  <cp:revision>1</cp:revision>
  <dcterms:created xsi:type="dcterms:W3CDTF">2013-01-27T09:14:16Z</dcterms:created>
  <dcterms:modified xsi:type="dcterms:W3CDTF">2026-08-14T17:56:33Z</dcterms:modified>
  <cp:category/>
</cp:coreProperties>
</file>